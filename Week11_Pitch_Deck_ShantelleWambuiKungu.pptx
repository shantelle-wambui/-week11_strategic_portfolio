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4552" cy="73152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ClaimGuard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6EE7B7"/>
                </a:solidFill>
              </a:rPr>
              <a:t>AI-Powered Insurance Fraud Detection for the Kenyan Motor Market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3108960"/>
            <a:ext cx="6309360" cy="3657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BD5E1"/>
                </a:solidFill>
              </a:rPr>
              <a:t>Shantelle Wambui Kungu  |  PLP AI/ML Capstone  |  September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BD5E1"/>
                </a:solidFill>
              </a:rPr>
              <a:t>"The technology works. The numbers justify it. Today I'm asking for the go-ahead."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KES 40–60 Billion Lost to Motor Insurance Fraud Every 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2011680" cy="9144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5–15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920240"/>
            <a:ext cx="8961120" cy="9144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2103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Manual review takes 5–15 days per claim — adjusters catch only 40% of fraud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108960"/>
            <a:ext cx="2011680" cy="9144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2918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60% missed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3108960"/>
            <a:ext cx="8961120" cy="9144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3291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Organised fraud rings file across multiple policyholders — invisible to a single reviewer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97680"/>
            <a:ext cx="2011680" cy="9144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F4444"/>
                </a:solidFill>
              </a:rPr>
              <a:t>KES 14.4M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4297680"/>
            <a:ext cx="8961120" cy="9144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4805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mid-size insurer loses approximately KES 14.4M in undetected fraud every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486400"/>
            <a:ext cx="11274552" cy="6400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6EE7B7"/>
                </a:solidFill>
              </a:rPr>
              <a:t>The problem isn't that fraud happens. It's that 60% of it goes undetected.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Cost of Inaction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What This Costs Every Month — Without ClaimGuard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406908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Item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1828800"/>
            <a:ext cx="498348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8745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Calculation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784080" y="1828800"/>
            <a:ext cx="196596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19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Monthly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77440"/>
            <a:ext cx="40690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14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Undetected fraud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377440"/>
            <a:ext cx="49834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2514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160 claims × KES 150K × 60% missed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2377440"/>
            <a:ext cx="196596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19" y="25146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KES 14.4M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00400"/>
            <a:ext cx="40690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375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Adjuster false-positive rework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200400"/>
            <a:ext cx="49834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79" y="3337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40% wrongly flagged × rework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3200400"/>
            <a:ext cx="196596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19" y="3337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KES 1.6M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023360"/>
            <a:ext cx="406908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1605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Total visible monthly loss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4023360"/>
            <a:ext cx="498348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79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784080" y="4023360"/>
            <a:ext cx="196596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19" y="4160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C55E"/>
                </a:solidFill>
              </a:rPr>
              <a:t>~KES 16M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394960"/>
            <a:ext cx="11274552" cy="73152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Every month we delay costs the business approximately KES 16 million in avoidable losses.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ClaimGuard: Three Layers of Intelligence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920240"/>
            <a:ext cx="1920240" cy="77724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659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Claim
Arrives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1920240"/>
            <a:ext cx="1920240" cy="77724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0" y="19659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Rules
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920240"/>
            <a:ext cx="1920240" cy="77724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9659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ML
Scorer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920240"/>
            <a:ext cx="1920240" cy="77724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9659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Network
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1031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1920240"/>
            <a:ext cx="1920240" cy="77724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196596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Auto
Route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3749039" cy="283464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632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Rules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8 hard fraud rules:
• Claim within 14 days of inception
• Duplicate OB numbers
• Provider billing spikes
• Round-sum amounts
• Missing documents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017520"/>
            <a:ext cx="3749039" cy="283464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80559" y="30632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XGBoost ML Scorer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59" y="35204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25 engineered features → fraud probability 0–1
AUC-ROC  0.84
Precision  79%
Recall  81%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017520"/>
            <a:ext cx="3749039" cy="283464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30632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Network / Ring Detector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20440"/>
            <a:ext cx="3566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Graph analysis across providers,
claimants, and vehicles.
Detects organised rings invisible
to human reviewers.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What ClaimGuard Delivers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297180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834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Metric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874519"/>
            <a:ext cx="233172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Manual Process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74519"/>
            <a:ext cx="233172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9202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ClaimGuard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1874519"/>
            <a:ext cx="3154680" cy="457200"/>
          </a:xfrm>
          <a:prstGeom prst="rect">
            <a:avLst/>
          </a:prstGeom>
          <a:solidFill>
            <a:srgbClr val="1E40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19202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EE7B7"/>
                </a:solidFill>
              </a:rPr>
              <a:t>Improvement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23160"/>
            <a:ext cx="297180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Processing Time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423160"/>
            <a:ext cx="233172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5–15 days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423160"/>
            <a:ext cx="233172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5603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&lt; 30 seconds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2423160"/>
            <a:ext cx="31546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25603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99.7% faster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46120"/>
            <a:ext cx="297180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83279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Fraud Detection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0" y="3246120"/>
            <a:ext cx="233172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3383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40%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3246120"/>
            <a:ext cx="233172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3383279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81%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3246120"/>
            <a:ext cx="31546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19" y="338327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+41 percentage points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297180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420624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Fraud Rings Found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0" y="4069080"/>
            <a:ext cx="233172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6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 (invisible)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4069080"/>
            <a:ext cx="233172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4206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12 rings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12480" y="4069080"/>
            <a:ext cx="31546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19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KES 4.2M exposure surfaced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892040"/>
            <a:ext cx="297180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029200"/>
            <a:ext cx="28346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Manual Review Workload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4892040"/>
            <a:ext cx="233172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892040"/>
            <a:ext cx="2331720" cy="73152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0" y="50292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2C55E"/>
                </a:solidFill>
              </a:rPr>
              <a:t>5% (oversight)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12480" y="4892040"/>
            <a:ext cx="3154680" cy="73152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503919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59E0B"/>
                </a:solidFill>
              </a:rPr>
              <a:t>95% reduction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The Numbers That Matter to This Room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5303520" cy="32004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Annual Savings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Additional fraud caught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KES 118.1M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Adjuster time savings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KES 10.9M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False positive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657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KES 19.2M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97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</a:rPr>
              <a:t>TOTAL ANNUAL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2976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22C55E"/>
                </a:solidFill>
              </a:rPr>
              <a:t>KES 148.2M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828800"/>
            <a:ext cx="5303520" cy="32004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87451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EE7B7"/>
                </a:solidFill>
              </a:rPr>
              <a:t>Year 1 Investment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77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Development &amp;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37744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KES 8.5M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017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Cloud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0175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KES 1.8M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6576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Maintenance &amp; retraining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6576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CBD5E1"/>
                </a:solidFill>
              </a:rPr>
              <a:t>KES 1.2M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429767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EE7B7"/>
                </a:solidFill>
              </a:rPr>
              <a:t>TOTAL INVESTMENT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297679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59E0B"/>
                </a:solidFill>
              </a:rPr>
              <a:t>KES 11.5M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57800"/>
            <a:ext cx="3566160" cy="8229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303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</a:rPr>
              <a:t>ROI: 1,188%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60520" y="5257800"/>
            <a:ext cx="3566160" cy="8229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60520" y="5303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6EE7B7"/>
                </a:solidFill>
              </a:rPr>
              <a:t>Payback: 28 Days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5257800"/>
            <a:ext cx="3566160" cy="8229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53035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</a:rPr>
              <a:t>5-Yr NPV: KES 580M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Risks &amp;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We've Thought About What Can Go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200400" cy="1828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Risk 1: Regulatory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IRA or a policyholder challenges an automated rejection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1920240"/>
            <a:ext cx="7863840" cy="18288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✅  Mitigation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6888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rejection includes a full SHAP audit trail explaining the decision in plain English. Human review is mandatory for all rejections. Designed from the ground up to comply with IRA data governance guidelines.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3200400" cy="18288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F4444"/>
                </a:solidFill>
              </a:rPr>
              <a:t>Risk 2: Model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6177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Fraud patterns evolve faster than the model retrains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4023360"/>
            <a:ext cx="7863840" cy="182880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4114800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C55E"/>
                </a:solidFill>
              </a:rPr>
              <a:t>✅  Mitigation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572000"/>
            <a:ext cx="7589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Automated monthly retraining pipeline with a champion/challenger model registry. Performance alert fires if AUC-ROC drops below 0.78, triggering immediate review and retraining.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Technology Is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This Is Not a Proposal. It's a Deployed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11338560" cy="658368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84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842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98424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Python/FastAPI — production-grade, containerised with Docker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06039"/>
            <a:ext cx="11338560" cy="658368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157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1576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71576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PostgreSQL — 22-table schema, migrations managed with Alembic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37560"/>
            <a:ext cx="11338560" cy="658368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4472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4728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ML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4728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XGBoost trainer, SHAP explainer, model registry with promote/rollback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11338560" cy="658368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1788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17880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Next.js — case review, HITL queue, network visualisation, ML admin portal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800600"/>
            <a:ext cx="11338560" cy="658368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10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1032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91032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JWT auth, 8 user roles, full audit trail on every single decision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11338560" cy="658368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418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22C55E"/>
                </a:solidFill>
              </a:rPr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4184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EE7B7"/>
                </a:solidFill>
              </a:rPr>
              <a:t>Scalability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641848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Celery + Redis async processing, horizontal scaling ready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6355080"/>
            <a:ext cx="11338560" cy="10972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309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BD5E1"/>
                </a:solidFill>
              </a:rPr>
              <a:t>The only thing missing is production data and your authorisation to connect to InsureMaster.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51560"/>
            <a:ext cx="2743200" cy="36576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We're Asking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6EE7B7"/>
                </a:solidFill>
              </a:rPr>
              <a:t>Three Approvals. One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3566160" cy="41148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356616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Budget: KES 11.5M (Year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Development &amp; integration sprint
Cloud infrastructure
Compliance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011680"/>
            <a:ext cx="3566160" cy="41148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2011680"/>
            <a:ext cx="3566160" cy="91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6EE7B7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108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IT Window: Q4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84048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90-day integration with InsureMaster
Zero disruption to existing systems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2011680"/>
            <a:ext cx="3566160" cy="41148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011680"/>
            <a:ext cx="3566160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59E0B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1089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Compliance Sign-off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3840480"/>
            <a:ext cx="3291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BD5E1"/>
                </a:solidFill>
              </a:rPr>
              <a:t>IRA data governance review
Full documentation provided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BD5E1"/>
                </a:solidFill>
              </a:rPr>
              <a:t>Shantelle Wambui Kungu  |  PLP AI/ML Capstone  | 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0" y="64922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6EE7B7"/>
                </a:solidFill>
              </a:rPr>
              <a:t>Go.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Deploy ClaimGuard.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BD5E1"/>
                </a:solidFill>
              </a:rPr>
              <a:t>KES 11.5M investment.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118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KES 148M return in Year 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Payback in 28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00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6EE7B7"/>
                </a:solidFill>
              </a:rPr>
              <a:t>The technology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BD5E1"/>
                </a:solidFill>
              </a:rPr>
              <a:t>Shantelle Wambui Kungu  |  shantellewambuikungu@gmail.com  |  github.com/Shantelle-wambui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1">
                <a:solidFill>
                  <a:srgbClr val="CBD5E1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